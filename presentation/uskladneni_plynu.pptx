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C0000"/>
                </a:solidFill>
                <a:latin typeface="Calibri"/>
              </a:rPr>
              <a:t>Spolehlivost plynových importů a dimenzování zásobníků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3580"/>
                </a:solidFill>
                <a:latin typeface="Calibri"/>
              </a:rPr>
              <a:t>Analýza minimálního zásobníkového plnění pro českou vyrovnávací zónu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ENTSOG fyzické toky  ·  post-2022  ·  NET4GAS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3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0000"/>
                </a:solidFill>
                <a:latin typeface="Calibri"/>
              </a:rPr>
              <a:t>Otázka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580"/>
                </a:solidFill>
                <a:latin typeface="Calibri"/>
              </a:rPr>
              <a:t>Kolik plynu musí být v zásobnících k 1. říjnu?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3580"/>
                </a:solidFill>
                <a:latin typeface="Calibri"/>
              </a:rPr>
              <a:t>Kolik plynu musí být k dispozici na začátku každého zimního měsíce?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Calibri"/>
              </a:rPr>
              <a:t>Tato analýza odpovídá na obě otázky pomocí dvou vzájemně konzistentních modelů opřených o skutečně pozorovaná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0000"/>
                </a:solidFill>
                <a:latin typeface="Calibri"/>
              </a:rPr>
              <a:t>Proč nový přístup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412479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246"/>
                <a:gridCol w="2944368"/>
                <a:gridCol w="3953865"/>
              </a:tblGrid>
              <a:tr h="1060704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 quo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Tento přístup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Datový zdroj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Smluvní alokace nebo historická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Fyzické toky ENTSOG, post-2022 — co skutečně překročilo hranici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Cíl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Paušální TWh cíl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Denní simulace s vazbou na fyzickou těžební křivku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Rychlost těžby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Nezohledňuje rychlost těžby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Vázající omezení: rychlost těžby, ne jen objem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Transparentnost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Předpoklady ve skrytých proměnných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Srozumitelná a auditovatelná metodika — vhodná pro regulatorní debatu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0000"/>
                </a:solidFill>
                <a:latin typeface="Calibri"/>
              </a:rPr>
              <a:t>Data a rozsah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▪  Zdroj: ENTSOG Transparency Platform — Agregovaná data, fyzické toky, NET4GAS, všechny vstupy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▪  Období: post-2022-03-01 — vylučuje ruský tranzit a cenový šok 2021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▪  Pokrytí: 4 zimní sezóny (2022/23–2025/26), 760 zimních dní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▪  Kapacita zásobníků: 40,8 TWh (hodnota AGSI+ před zavedením inverzního uskladňování; ověřit aktuální stav)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222222"/>
                </a:solidFill>
                <a:latin typeface="Calibri"/>
              </a:rPr>
              <a:t>▪  Zásobníková data: GIE AGSI+, denní granularita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0000"/>
                </a:solidFill>
                <a:latin typeface="Calibri"/>
              </a:rPr>
              <a:t>Předpoklady a vstupy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7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745"/>
                <a:gridCol w="3196742"/>
                <a:gridCol w="3364992"/>
              </a:tblGrid>
              <a:tr h="8001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Vstup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Hodnota / zdroj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Poznámka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Poptávka 1-z-20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R.max.den + r_30dnu (ERÚ)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Leden: 367,8 GWh/den špička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Importní percentily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ENTSOG fyzické toky, měsíční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S1=P10, S2=P20, …, S5=P70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Těžební křivka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GIE zásobníková data + ENTSOG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Blend B1 50/50, B2 75/25 (10% srážka)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0000"/>
                </a:solidFill>
                <a:latin typeface="Calibri"/>
              </a:rPr>
              <a:t>Dvě větve modelu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430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Calibri"/>
              </a:rPr>
              <a:t>Peak poptávka 1-z-20  →  Import (scénáře) + Těžba ze zásobníků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393192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003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VĚTEV 1 — Měsíční povinnosti
(Art. 6, EU Reg. 2017/1938)
▪  30denní simulace pro každý měsíc zvlášť
▪  Blend těžební křivky: 50/50 (B1)
Výsledek:
Minimální plnění k 1. října, 1. listopadu, … 1. března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1828800"/>
            <a:ext cx="393192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003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222222"/>
                </a:solidFill>
                <a:latin typeface="Calibri"/>
              </a:rPr>
              <a:t>VĚTEV 2 — Sezónní cíl
▪  Denní simulace říjen–březen (182 dní)
▪  Blend těžební křivky: 75/25 (B2)
▪  Rezerva 0,5 TWh k 31. 3.
Výsledek:
Minimální plnění k 1. říjnu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3703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3580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C0000"/>
                </a:solidFill>
                <a:latin typeface="Calibri"/>
              </a:rPr>
              <a:t>Větev 1: Minimální plnění zásobníku na začátku měsíce (TWh)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580"/>
                </a:solidFill>
                <a:latin typeface="Calibri"/>
              </a:rPr>
              <a:t>Blend těžební křivky 50/50 × scénářové importní percentily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8412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600891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Měsíc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S1 – Vysoký stres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S2 – Stresový ★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S3 – Mírný stres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S4 – Medián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S5 – Příznivý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Říjen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Listopad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1,01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Prosinec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4,50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4,12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3,41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Leden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10,56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8,54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5,85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2,31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Únor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6,12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3,62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2,19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1,30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Březen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760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★ S2 = doporučená regulatorní kotva  ·  Kapacita zásobníků: 40,8 TWh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Větev 2: Minimální plnění k 1. říjnu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3580"/>
                </a:solidFill>
                <a:latin typeface="Calibri"/>
              </a:rPr>
              <a:t>Blend těžební křivky 75/25 × scénářové importní percentily  ·  rezerva 0,5 TWh k 31. 3.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841247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244"/>
                <a:gridCol w="1261872"/>
                <a:gridCol w="1093622"/>
                <a:gridCol w="1261872"/>
                <a:gridCol w="2607868"/>
              </a:tblGrid>
              <a:tr h="6858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Scénář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Základ importu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Plnění (%)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Plnění (TWh)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Vázající omezení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S1 – Vysoký stres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63,1 %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25,7 TWh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Operační rezerva 31. 3.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S2 – Stresový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55,1 %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22,5 TWh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Operační rezerva 31. 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S3 – Mírný stres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43,0 %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17,5 TWh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Operační rezerva 31. 3.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S4 – Medián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25,6 %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10,4 TWh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Operační rezerva 31. 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S5 – Příznivý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14,2 %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5,8 TWh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Operační rezerva 31. 3.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760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★ S2 = doporučená kotva (22,5 TWh, ~55 % kapacity)  ·  Operační rezerva 0,5 TWh k 31. 3. je zahrnutá v simulaci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C0000"/>
                </a:solidFill>
                <a:latin typeface="Calibri"/>
              </a:rPr>
              <a:t>Klíčové zjištění: rychlost těžby jako vázající omezení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0F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C0000"/>
                </a:solidFill>
                <a:latin typeface="Calibri"/>
              </a:rPr>
              <a:t>TWh cíl bez kontroly rychlosti těžby je neúplný.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8412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Těžební kapacita klesá s plněním zásobníku — při nízkém plnění nelze dodat plyn dostatečně rychle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Blend 75/25 (B2) udržuje rychlost těžby nad denní potřebou po celou sezónu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Vázající omezení: operační rezerva 0,5 TWh k 31. 3. (pro všechny scénáře S1–S5)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Čistě empirická křivka (P95) by vedla k cíli ~31,8 TWh pro S2 — rozdíl 9 TWh dokumentuje vliv výběru metodiky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41605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71500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Těžební křivka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Import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Cíl k 1. říjnu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Empirická P95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S2 scénáře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~31,8 TWh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Blend 75/25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S2 scénáře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22,5 TWh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ENTSOG inženýrská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S2 scénáře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~14 TWh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0000"/>
                </a:solidFill>
                <a:latin typeface="Calibri"/>
              </a:rPr>
              <a:t>Interpretace scénářů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841247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745"/>
                <a:gridCol w="1261872"/>
                <a:gridCol w="5299862"/>
              </a:tblGrid>
              <a:tr h="8077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Scénář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Základ importu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Interpretace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S1 – Vysoký stres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Fyzická infrastrukturní krize — panevropská zima, kapacita německých plynovodů omezena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S2 – Stresový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Regulatorní kotva — komerční stres, ~1-z-40 při pozorované korelaci poptávky a importů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S3 – Mírný stres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Mírný stres, napjatší než normální zásobování z Německa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S4 – Medián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Centrální případ; spodní hranice pro tržní dopad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S5 – Příznivý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Optimistický; téměř nulová povinnost ve všech měsících kromě ledna/února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893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S2 nejlépe kombinuje konzervativní importní předpoklad s auditovatelnou metodikou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0000"/>
                </a:solidFill>
                <a:latin typeface="Calibri"/>
              </a:rPr>
              <a:t>Citlivostní analýza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580"/>
                </a:solidFill>
                <a:latin typeface="Calibri"/>
              </a:rPr>
              <a:t>Větev 1 — S2 Leden: vliv těžební křivky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4206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640080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Těžební křivka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Import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Povinnost leden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Empirická P95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13,85 TWh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Blend 50/50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8,54 TWh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ENTSOG inženýrská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4,68 TWh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Blend 50/50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P99 studené dny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2,20 TWh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580"/>
                </a:solidFill>
                <a:latin typeface="Calibri"/>
              </a:rPr>
              <a:t>Větev 2 — S2: citlivost na poptávku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417320"/>
          <a:ext cx="4023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617220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Poptávka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Cíl k 1. říjnu</a:t>
                      </a:r>
                    </a:p>
                  </a:txBody>
                  <a:tcPr>
                    <a:solidFill>
                      <a:srgbClr val="003580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Základ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22,5 TWh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Špička +50 GWh/den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~30 TWh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Špička −50 GWh/den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~15 TWh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8521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Rozsah 2–14 TWh (B1 leden) a 15–30 TWh (B2 sezóna) reprezentuje plný obhajitelný prostor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C0000"/>
                </a:solidFill>
                <a:latin typeface="Calibri"/>
              </a:rPr>
              <a:t>Výhrady a doporučené rozšíření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580"/>
                </a:solidFill>
                <a:latin typeface="Calibri"/>
              </a:rPr>
              <a:t>Výhrady modelu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Deterministické měsíční importy (konzervativní horní odhady)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Těžební křivka špatně identifikována pod ~20 % plnění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Letní injektáž neověřena (zejm. pro cíle &gt;22 TWh)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Korelace poptávky a importů zachycena scénářově, ne stochasticky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EU Reg. 2025/1733: česká měsíční pravidla jsou přísnější než EU základ (±10 pp pásmo)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580"/>
                </a:solidFill>
                <a:latin typeface="Calibri"/>
              </a:rPr>
              <a:t>Doporučené rozšíření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4173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Stochastický model importů (rozdělení místo percentilů)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Propojení zimní sezóny s letní injektáží (multi-year model)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Copula pro korelaci poptávka/import (přesnější 1-z-20 pravděpodobnost)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Scénář výpadku koridoru N-1 (čl. 5 EU Reg. 2017/1938)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22222"/>
                </a:solidFill>
                <a:latin typeface="Calibri"/>
              </a:rPr>
              <a:t>▪  Kvantifikace nákladů přísnosti vůči EU Reg. 2025/1733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0000"/>
                </a:solidFill>
                <a:latin typeface="Calibri"/>
              </a:rPr>
              <a:t>Doporučení a výzva k diskusi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51560"/>
            <a:ext cx="2606040" cy="2194560"/>
          </a:xfrm>
          <a:prstGeom prst="rect">
            <a:avLst/>
          </a:prstGeom>
          <a:solidFill>
            <a:srgbClr val="F2F2F2"/>
          </a:solidFill>
          <a:ln>
            <a:solidFill>
              <a:srgbClr val="003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580"/>
                </a:solidFill>
                <a:latin typeface="Calibri"/>
              </a:rPr>
              <a:t>S2 — Regulatorní kotva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727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000"/>
                </a:solidFill>
                <a:latin typeface="Calibri"/>
              </a:rPr>
              <a:t>Leden: 8,54 TWh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2140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000"/>
                </a:solidFill>
                <a:latin typeface="Calibri"/>
              </a:rPr>
              <a:t>1. října: 22,5 TWh (55 %)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4408" y="1051560"/>
            <a:ext cx="2606040" cy="2194560"/>
          </a:xfrm>
          <a:prstGeom prst="rect">
            <a:avLst/>
          </a:prstGeom>
          <a:solidFill>
            <a:srgbClr val="F2F2F2"/>
          </a:solidFill>
          <a:ln>
            <a:solidFill>
              <a:srgbClr val="003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97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580"/>
                </a:solidFill>
                <a:latin typeface="Calibri"/>
              </a:rPr>
              <a:t>Obhajitelný rozsah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15727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000"/>
                </a:solidFill>
                <a:latin typeface="Calibri"/>
              </a:rPr>
              <a:t>Leden: 2–14 TWh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12140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000"/>
                </a:solidFill>
                <a:latin typeface="Calibri"/>
              </a:rPr>
              <a:t>1. října: 7–32 TWh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2606040" cy="2194560"/>
          </a:xfrm>
          <a:prstGeom prst="rect">
            <a:avLst/>
          </a:prstGeom>
          <a:solidFill>
            <a:srgbClr val="F2F2F2"/>
          </a:solidFill>
          <a:ln>
            <a:solidFill>
              <a:srgbClr val="003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09728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3580"/>
                </a:solidFill>
                <a:latin typeface="Calibri"/>
              </a:rPr>
              <a:t>Operační rezerva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15727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000"/>
                </a:solidFill>
                <a:latin typeface="Calibri"/>
              </a:rPr>
              <a:t>31. března: 0,5 TWh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12140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000"/>
                </a:solidFill>
                <a:latin typeface="Calibri"/>
              </a:rPr>
              <a:t>samostatný reg. nástroj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Čísla S2 jsou navrhovanou regulatorní kotvou — nikoli finálními závěry. Před externím použitím: (1) ověřte kapacitu zásobníků 40,8 TWh z aktuálního AGSI+; (2) zvažte soulad s EU Reg. 2025/1733; (3) odsouhlaste metodiku těžební křivky.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Metodika: docs/analysis_synthesis_brief.md  ·  Výsledky: docs/storage_obligations_results.md, docs/storage_target_results.md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